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5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7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0" strike="noStrike" spc="-1">
                <a:solidFill>
                  <a:srgbClr val="006633"/>
                </a:solidFill>
                <a:latin typeface="Garamond"/>
              </a:rPr>
              <a:t>Click to move the slide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</a:pPr>
            <a:endParaRPr lang="en-US" sz="2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6F822B-9425-4D5C-B464-8C182DF67D30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7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B4E86E-9388-4ED8-AE22-5B86EB9031F5}" type="slidenum">
              <a:rPr lang="en-US" sz="1200" b="0" strike="noStrike" spc="-1">
                <a:solidFill>
                  <a:srgbClr val="000000"/>
                </a:solidFill>
                <a:latin typeface="Arial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tr-TR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D719DCA-ABCD-4ABE-B824-74BB2589492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110BECB-B18C-406E-B521-3F3C295BE61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0" strike="noStrike" spc="-1">
                <a:solidFill>
                  <a:srgbClr val="006633"/>
                </a:solidFill>
                <a:latin typeface="Garamond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669960" lvl="1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022400" lvl="2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339920" lvl="3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681200" lvl="4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1681200" lvl="5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1681200" lvl="6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A418307-620E-4ADE-BCDD-D4726C1FA2E1}" type="slidenum">
              <a:rPr lang="en-US" sz="1200" b="0" strike="noStrike" spc="-1">
                <a:solidFill>
                  <a:srgbClr val="000000"/>
                </a:solidFill>
                <a:latin typeface="Garamond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Freeform 7"/>
          <p:cNvSpPr/>
          <p:nvPr/>
        </p:nvSpPr>
        <p:spPr>
          <a:xfrm>
            <a:off x="380880" y="228600"/>
            <a:ext cx="8229600" cy="60948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Line 8"/>
          <p:cNvSpPr/>
          <p:nvPr/>
        </p:nvSpPr>
        <p:spPr>
          <a:xfrm>
            <a:off x="457200" y="6172200"/>
            <a:ext cx="822960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609480" y="1219320"/>
            <a:ext cx="7925040" cy="914400"/>
          </a:xfrm>
          <a:custGeom>
            <a:avLst/>
            <a:gdLst/>
            <a:ahLst/>
            <a:cxnLst/>
            <a:rect l="l" t="t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56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Line 8"/>
          <p:cNvSpPr/>
          <p:nvPr/>
        </p:nvSpPr>
        <p:spPr>
          <a:xfrm>
            <a:off x="1981080" y="3962520"/>
            <a:ext cx="6512040" cy="0"/>
          </a:xfrm>
          <a:prstGeom prst="line">
            <a:avLst/>
          </a:prstGeom>
          <a:ln w="19080">
            <a:solidFill>
              <a:srgbClr val="CC99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6800" rIns="90000" bIns="-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200" b="0" strike="noStrike" spc="-1">
                <a:solidFill>
                  <a:srgbClr val="006633"/>
                </a:solidFill>
                <a:latin typeface="Garamond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343080" indent="-34308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669960" lvl="1" indent="-325440">
              <a:spcBef>
                <a:spcPts val="751"/>
              </a:spcBef>
              <a:buClr>
                <a:srgbClr val="3B812F"/>
              </a:buClr>
              <a:buSzPct val="6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022400" lvl="2" indent="-351000">
              <a:spcBef>
                <a:spcPts val="751"/>
              </a:spcBef>
              <a:buClr>
                <a:srgbClr val="CC9900"/>
              </a:buClr>
              <a:buSzPct val="65000"/>
              <a:buFont typeface="Wingdings" charset="2"/>
              <a:buChar char="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339920" lvl="3" indent="-316080">
              <a:spcBef>
                <a:spcPts val="751"/>
              </a:spcBef>
              <a:buClr>
                <a:srgbClr val="3B812F"/>
              </a:buClr>
              <a:buSzPct val="70000"/>
              <a:buFont typeface="Wingdings" charset="2"/>
              <a:buChar char="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1681200" lvl="4" indent="-339840">
              <a:spcBef>
                <a:spcPts val="751"/>
              </a:spcBef>
              <a:buClr>
                <a:srgbClr val="CC99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1681200" lvl="5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1681200" lvl="6" indent="-339840">
              <a:spcBef>
                <a:spcPts val="751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124080" y="624348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200" b="0" strike="noStrike" spc="-1">
                <a:solidFill>
                  <a:srgbClr val="000000"/>
                </a:solidFill>
                <a:latin typeface="Garamond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9E40DE6-C613-4EAC-A3E6-1C45BAA70BD2}" type="slidenum">
              <a:rPr lang="en-US" sz="1200" b="0" strike="noStrike" spc="-1">
                <a:solidFill>
                  <a:srgbClr val="000000"/>
                </a:solidFill>
                <a:latin typeface="Garamond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15" descr="iu2"/>
          <p:cNvPicPr/>
          <p:nvPr/>
        </p:nvPicPr>
        <p:blipFill>
          <a:blip r:embed="rId3"/>
          <a:stretch/>
        </p:blipFill>
        <p:spPr>
          <a:xfrm>
            <a:off x="6659640" y="3213000"/>
            <a:ext cx="2409840" cy="34560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6"/>
          <p:cNvSpPr/>
          <p:nvPr/>
        </p:nvSpPr>
        <p:spPr>
          <a:xfrm>
            <a:off x="979560" y="2349360"/>
            <a:ext cx="7632720" cy="24336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600" b="1" strike="noStrike" spc="-1" dirty="0" err="1">
                <a:solidFill>
                  <a:srgbClr val="FF6600"/>
                </a:solidFill>
                <a:latin typeface="Arial"/>
              </a:rPr>
              <a:t>Developing</a:t>
            </a:r>
            <a:r>
              <a:rPr lang="tr-TR" sz="3600" b="1" strike="noStrike" spc="-1" dirty="0">
                <a:solidFill>
                  <a:srgbClr val="FF6600"/>
                </a:solidFill>
                <a:latin typeface="Arial"/>
              </a:rPr>
              <a:t> a </a:t>
            </a:r>
            <a:r>
              <a:rPr lang="tr-TR" sz="3600" b="1" strike="noStrike" spc="-1" dirty="0" err="1">
                <a:solidFill>
                  <a:srgbClr val="FF6600"/>
                </a:solidFill>
                <a:latin typeface="Arial"/>
              </a:rPr>
              <a:t>prototype</a:t>
            </a:r>
            <a:r>
              <a:rPr lang="tr-TR" sz="3600" b="1" strike="noStrike" spc="-1" dirty="0">
                <a:solidFill>
                  <a:srgbClr val="FF6600"/>
                </a:solidFill>
                <a:latin typeface="Arial"/>
              </a:rPr>
              <a:t> </a:t>
            </a:r>
            <a:r>
              <a:rPr lang="tr-TR" sz="3600" b="1" strike="noStrike" spc="-1" dirty="0" err="1">
                <a:solidFill>
                  <a:srgbClr val="FF6600"/>
                </a:solidFill>
                <a:latin typeface="Arial"/>
              </a:rPr>
              <a:t>language</a:t>
            </a:r>
            <a:r>
              <a:rPr lang="tr-TR" sz="3600" b="1" strike="noStrike" spc="-1" dirty="0">
                <a:solidFill>
                  <a:srgbClr val="FF6600"/>
                </a:solidFill>
                <a:latin typeface="Arial"/>
              </a:rPr>
              <a:t> model </a:t>
            </a:r>
            <a:r>
              <a:rPr lang="tr-TR" sz="3600" b="1" strike="noStrike" spc="-1" dirty="0" err="1">
                <a:solidFill>
                  <a:srgbClr val="FF6600"/>
                </a:solidFill>
                <a:latin typeface="Arial"/>
              </a:rPr>
              <a:t>for</a:t>
            </a:r>
            <a:r>
              <a:rPr lang="tr-TR" sz="3600" b="1" strike="noStrike" spc="-1" dirty="0">
                <a:solidFill>
                  <a:srgbClr val="FF6600"/>
                </a:solidFill>
                <a:latin typeface="Arial"/>
              </a:rPr>
              <a:t> </a:t>
            </a:r>
            <a:r>
              <a:rPr lang="tr-TR" sz="3600" b="1" strike="noStrike" spc="-1" dirty="0" err="1">
                <a:solidFill>
                  <a:srgbClr val="FF6600"/>
                </a:solidFill>
                <a:latin typeface="Arial"/>
              </a:rPr>
              <a:t>use</a:t>
            </a:r>
            <a:r>
              <a:rPr lang="tr-TR" sz="3600" b="1" strike="noStrike" spc="-1" dirty="0">
                <a:solidFill>
                  <a:srgbClr val="FF6600"/>
                </a:solidFill>
                <a:latin typeface="Arial"/>
              </a:rPr>
              <a:t> in AI</a:t>
            </a:r>
            <a:endParaRPr lang="en-US" sz="3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600" b="1" strike="noStrike" spc="-1" dirty="0">
                <a:solidFill>
                  <a:srgbClr val="FF6600"/>
                </a:solidFill>
                <a:latin typeface="Arial"/>
              </a:rPr>
              <a:t>                   Hazırlayan: Alperen KARAKAYA       1316210074</a:t>
            </a: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Box 18"/>
          <p:cNvSpPr/>
          <p:nvPr/>
        </p:nvSpPr>
        <p:spPr>
          <a:xfrm>
            <a:off x="836280" y="1309680"/>
            <a:ext cx="545832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800" b="1" strike="noStrike" spc="-1">
                <a:solidFill>
                  <a:srgbClr val="FF6600"/>
                </a:solidFill>
                <a:latin typeface="Times New Roman"/>
              </a:rPr>
              <a:t>Elektrik - Elektronik Mühendisliği</a:t>
            </a:r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Box 19"/>
          <p:cNvSpPr/>
          <p:nvPr/>
        </p:nvSpPr>
        <p:spPr>
          <a:xfrm>
            <a:off x="973440" y="5229360"/>
            <a:ext cx="147600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800" b="0" strike="noStrike" spc="-1">
                <a:solidFill>
                  <a:srgbClr val="FF6600"/>
                </a:solidFill>
                <a:latin typeface="Arial"/>
              </a:rPr>
              <a:t>Danışmanlar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Box 20"/>
          <p:cNvSpPr/>
          <p:nvPr/>
        </p:nvSpPr>
        <p:spPr>
          <a:xfrm>
            <a:off x="976320" y="5805360"/>
            <a:ext cx="2675582" cy="37151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800" b="0" strike="noStrike" spc="-1" dirty="0">
                <a:solidFill>
                  <a:srgbClr val="FF6600"/>
                </a:solidFill>
                <a:latin typeface="Arial"/>
              </a:rPr>
              <a:t>Doç. Dr. Erkan ATMACA</a:t>
            </a:r>
            <a:endParaRPr lang="en-US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Rectangle 22"/>
          <p:cNvSpPr/>
          <p:nvPr/>
        </p:nvSpPr>
        <p:spPr>
          <a:xfrm>
            <a:off x="563400" y="476280"/>
            <a:ext cx="6534360" cy="581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İstanbul Üniversitesi-Cerrahpaşa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Resim 1"/>
          <p:cNvPicPr/>
          <p:nvPr/>
        </p:nvPicPr>
        <p:blipFill>
          <a:blip r:embed="rId4"/>
          <a:stretch/>
        </p:blipFill>
        <p:spPr>
          <a:xfrm>
            <a:off x="7596360" y="115920"/>
            <a:ext cx="981000" cy="1009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15640" y="1039320"/>
            <a:ext cx="7056360" cy="1140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600" b="0" strike="noStrike" spc="-1" dirty="0">
                <a:solidFill>
                  <a:srgbClr val="FF6600"/>
                </a:solidFill>
                <a:latin typeface="Arial"/>
              </a:rPr>
              <a:t>Sunu Başlıkları</a:t>
            </a:r>
            <a:endParaRPr lang="en-US" sz="3600" b="0" strike="noStrike" spc="-1" dirty="0">
              <a:solidFill>
                <a:srgbClr val="006633"/>
              </a:solidFill>
              <a:latin typeface="Garamond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206360" y="2204640"/>
            <a:ext cx="7693200" cy="280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>
              <a:spcBef>
                <a:spcPts val="601"/>
              </a:spcBef>
              <a:buClr>
                <a:srgbClr val="CC9900"/>
              </a:buClr>
              <a:buSzPct val="6500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1" strike="noStrike" spc="-1" dirty="0">
                <a:solidFill>
                  <a:srgbClr val="FF6600"/>
                </a:solidFill>
                <a:latin typeface="Arial"/>
              </a:rPr>
              <a:t>Giriş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spcBef>
                <a:spcPts val="601"/>
              </a:spcBef>
              <a:buClr>
                <a:srgbClr val="CC9900"/>
              </a:buClr>
              <a:buSzPct val="6500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1" strike="noStrike" spc="-1" dirty="0">
                <a:solidFill>
                  <a:srgbClr val="FF6600"/>
                </a:solidFill>
                <a:latin typeface="Arial"/>
              </a:rPr>
              <a:t>Bitirme Projesi Konusu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spcBef>
                <a:spcPts val="601"/>
              </a:spcBef>
              <a:buClr>
                <a:srgbClr val="CC9900"/>
              </a:buClr>
              <a:buSzPct val="6500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1" strike="noStrike" spc="-1" dirty="0">
                <a:solidFill>
                  <a:srgbClr val="FF6600"/>
                </a:solidFill>
                <a:latin typeface="Arial"/>
              </a:rPr>
              <a:t>Yapılan Çalışma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spcBef>
                <a:spcPts val="601"/>
              </a:spcBef>
              <a:buClr>
                <a:srgbClr val="CC9900"/>
              </a:buClr>
              <a:buSzPct val="65000"/>
              <a:buNone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1" strike="noStrike" spc="-1" dirty="0">
                <a:solidFill>
                  <a:srgbClr val="FF6600"/>
                </a:solidFill>
                <a:latin typeface="Arial"/>
              </a:rPr>
              <a:t>Sonuçlar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None/>
            </a:pPr>
            <a:r>
              <a:rPr lang="tr-TR" sz="2400" b="1" strike="noStrike" spc="-1" dirty="0">
                <a:solidFill>
                  <a:srgbClr val="FF6600"/>
                </a:solidFill>
                <a:latin typeface="Arial"/>
              </a:rPr>
              <a:t>Soru Cevapları</a:t>
            </a:r>
            <a:endParaRPr lang="en-US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Picture 15" descr="iu2"/>
          <p:cNvPicPr/>
          <p:nvPr/>
        </p:nvPicPr>
        <p:blipFill>
          <a:blip r:embed="rId2"/>
          <a:stretch/>
        </p:blipFill>
        <p:spPr>
          <a:xfrm>
            <a:off x="6516720" y="2637000"/>
            <a:ext cx="2409840" cy="3456000"/>
          </a:xfrm>
          <a:prstGeom prst="rect">
            <a:avLst/>
          </a:prstGeom>
          <a:ln w="0">
            <a:noFill/>
          </a:ln>
        </p:spPr>
      </p:pic>
      <p:pic>
        <p:nvPicPr>
          <p:cNvPr id="31" name="Resim 1"/>
          <p:cNvPicPr/>
          <p:nvPr/>
        </p:nvPicPr>
        <p:blipFill>
          <a:blip r:embed="rId3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5" descr="iu2"/>
          <p:cNvPicPr/>
          <p:nvPr/>
        </p:nvPicPr>
        <p:blipFill>
          <a:blip r:embed="rId2"/>
          <a:stretch/>
        </p:blipFill>
        <p:spPr>
          <a:xfrm>
            <a:off x="6516720" y="2637000"/>
            <a:ext cx="2409840" cy="3456000"/>
          </a:xfrm>
          <a:prstGeom prst="rect">
            <a:avLst/>
          </a:prstGeom>
          <a:ln w="0">
            <a:noFill/>
          </a:ln>
        </p:spPr>
      </p:pic>
      <p:sp>
        <p:nvSpPr>
          <p:cNvPr id="33" name="Rectangle 14"/>
          <p:cNvSpPr/>
          <p:nvPr/>
        </p:nvSpPr>
        <p:spPr>
          <a:xfrm rot="5400000">
            <a:off x="861480" y="1881000"/>
            <a:ext cx="217440" cy="576360"/>
          </a:xfrm>
          <a:prstGeom prst="rect">
            <a:avLst/>
          </a:prstGeom>
          <a:solidFill>
            <a:srgbClr val="FF6600"/>
          </a:solidFill>
          <a:ln w="9360">
            <a:solidFill>
              <a:srgbClr val="FF6600">
                <a:alpha val="48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Rectangle 15"/>
          <p:cNvSpPr/>
          <p:nvPr/>
        </p:nvSpPr>
        <p:spPr>
          <a:xfrm rot="5400000">
            <a:off x="863640" y="2673360"/>
            <a:ext cx="217440" cy="576000"/>
          </a:xfrm>
          <a:prstGeom prst="rect">
            <a:avLst/>
          </a:prstGeom>
          <a:solidFill>
            <a:srgbClr val="FF6600"/>
          </a:solidFill>
          <a:ln w="9360">
            <a:solidFill>
              <a:srgbClr val="FF6600">
                <a:alpha val="48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Rectangle 20"/>
          <p:cNvSpPr/>
          <p:nvPr/>
        </p:nvSpPr>
        <p:spPr>
          <a:xfrm>
            <a:off x="685440" y="1268280"/>
            <a:ext cx="11073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Giriş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Box 23"/>
          <p:cNvSpPr/>
          <p:nvPr/>
        </p:nvSpPr>
        <p:spPr>
          <a:xfrm>
            <a:off x="684360" y="5084640"/>
            <a:ext cx="52524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4400" b="1" strike="noStrike" spc="-1">
                <a:solidFill>
                  <a:srgbClr val="FF6600"/>
                </a:solidFill>
                <a:latin typeface="Arial"/>
              </a:rPr>
              <a:t>?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Box 1"/>
          <p:cNvSpPr/>
          <p:nvPr/>
        </p:nvSpPr>
        <p:spPr>
          <a:xfrm>
            <a:off x="1515960" y="1979640"/>
            <a:ext cx="6337440" cy="201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Bir metnin sıradaki kelimesinin ne olabileceğini tahmin etmek üzerine kurulu bir problem ele alındı.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Telefon klavyelerindeki kelime önerilerinden büyük dil modellerine kadar farklı boyutlarda uygulamaları bulunmaktadır. Bu çalışmada n-gram ve Transformer yaklaşımları aynı problem üzerinde karşılaştırılmıştır.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Rectangle 15"/>
          <p:cNvSpPr/>
          <p:nvPr/>
        </p:nvSpPr>
        <p:spPr>
          <a:xfrm rot="5400000">
            <a:off x="863640" y="4257720"/>
            <a:ext cx="217440" cy="576000"/>
          </a:xfrm>
          <a:prstGeom prst="rect">
            <a:avLst/>
          </a:prstGeom>
          <a:solidFill>
            <a:srgbClr val="FF6600"/>
          </a:solidFill>
          <a:ln w="9360">
            <a:solidFill>
              <a:srgbClr val="FF6600">
                <a:alpha val="48000"/>
              </a:srgbClr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Resim 9"/>
          <p:cNvPicPr/>
          <p:nvPr/>
        </p:nvPicPr>
        <p:blipFill>
          <a:blip r:embed="rId3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Bitirme Projesi Konusu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Developing a prototype language model for use in AI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Yapay zekâ uygulamalarında kullanılabilecek bir dil modeli prototipinin geliştirilmesi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Amaç: Bir sonraki kelimeyi tahmin eden bir metin üretim sisteminin tasarlanması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İki farklı yaklaşımın aynı problem üzerinde karşılaştırılması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Web tabanlı bir arayüz üzerinden kullanıcıya etkileşimli öneri sunulması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Yaklaşım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Asıl çalışma yedi kelimelik bağlam kullanan n-gram modeli üzerine kuruldu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Karşılaştırma için küçük ölçekli bir Transformer modeli eğitildi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İki model aynı arayüz üzerinden çalıştırılarak yan yana incelendi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Karşılaştırma eksenleri: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Dil tahmin kalitesi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Üretim hızı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Bellek ve disk kullanımı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Sistem Mimarisi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Üç katmanlı yapı: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Tarayıcı arayüzü kullanıcıdan gelen yazıyı sunucuya iletir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Sunucu, gelen isteği seçili modele yönlendirir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Arka uçta n-gram ve Transformer modelleri yer alır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Kullanıcı arayüzdeki seçiciyle iki model arasında geçiş yapabilir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Her tuşa basışta modelden yeni bir tahmin istenir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Sunucu gelen bağlamı önce ön işleme tabi tutar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N-gram Motoru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Yedi kelimelik bağlam penceresi kullanılır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Daha kısa pencereler bağlamı yeterince yakalayamaz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Daha uzun pencerelerde eşleşme bulmak güçleşir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Her uzunluk için ayrı bir sayım tablosu oluşturulur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Yaklaşık yirmi beş bin farklı kelimeden oluşan sözlük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Bağlamlar hash ile temsil edilerek yer kullanımı düşürülür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Ansiklopedik metinler ve gerçek dünya soru cevap içeriklerinden oluşan bir korpus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Geri Çekilme ve Hiyerarşik Örnekleme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Eşleşme bulunamayan bağlamda seviye kısaltılır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Yedi-gramdan unigrama kadar kademeli inilir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İki aşamalı örnekleme mekanizması: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Aşama 1: Uygun her seviyeye puan atanır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Puan seviyenin uzunluğu ile o seviyedeki güvenin çarpımıdır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Aşama 2: Seçilen seviyenin en olası beş adayından örneklenir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Sıcaklık parametresi çeşitliliği ayarlar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İki düzeyli tekrar engelleme döngüsel çıktıları azaltır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Transformer Karşılaştırma Modeli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Karşılaştırma amaçlı küçük ölçekli bir GPT yapısı eğitildi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Altı katman, altı dikkat başlığı, yaklaşık on dört milyon parametre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Alt-kelime tokenizasyonu kullanıldı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Yaklaşık sekiz bin token büyüklüğünde sözlük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Eğitim Google Colab üzerinden GPU ile yapıldı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Sınırlı süre nedeniyle uzun süreli eğitim alınmadı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Amaç en iyi sonuç değil, n-gram için bir referans noktası sağlamak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Kullanıcı Arayüzü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Gri öneri kullanıcının yazdığı metnin hemen arkasında belirir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Sekme tuşuyla kabul edilir, devam ederek yok sayılır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Gri öneri deterministik çalışır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Aynı bağlam her zaman aynı öneriyi verir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Bu istikrar, hızlı yazımda dikkat dağınıklığını önler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Cümle ya da paragraf üretimi ayrı bir kısayolla çalışır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Bu modda örnekleme devrede olduğu için her istekte farklı çıktı gelebilir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Yan panelde olasılık dağılımı ve kullanılan bağlam uzunluğu gösterilir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Sonuçlar: Dil Modeli Kalitesi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Doğrulama metni eğitimden bağımsız tutuldu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Perpleksite (düşük daha iyi):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N-gram: 76,62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ağı: 335,77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İlk tahmin doğruluğu: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N-gram: %57,65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ağı: %22,71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 geride kalmasının başlıca nedeni ölçek kısıtı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Sonuçlar: Hız ve Kaynak Kullanımı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Tek öneri süresi: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N-gram: yaklaşık 5 ms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ağı: yaklaşık 450 ms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Bellek kullanımı: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N-gram: yaklaşık 3,9 GB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ağı: yaklaşık 53 MB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 etkileşimli arayüz için yeterince hızlı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Sinir ağı çok daha az bellekle çalışır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Sonuçlar: Geri Çekilme Dağılımı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Doğrulama metninde modelin hangi seviyede eşleşme bulduğu ölçüldü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Yedi-gram tam bağlam: yaklaşık %44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Orta seviye bağlamlar: yaklaşık %43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Unigram düzeyi: yaklaşık %13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Tahminlerin yarısına yakını tam bağlamda karşılık buldu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Eğitim verisinin ölçeği amaca yeterli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Değerlendirme ve İleride Yapılabilecekler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Sade istatistiksel yöntemler yeterli veriyle iyi çalışıyor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N-gram yaklaşımının güçlü yanı hız, zayıf yanı bellek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En modern yöntem her zaman en uygun yöntem olmayabilir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İleride yapılabilecek çalışmalar: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Daha geniş bir korpus ve sözlükle eğitim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Bellek tüketimini düşürmek için seyrek depolama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İki yaklaşımı birleştiren hibrit bir sistem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Kullanıcı geri bildiriminin sürece katılması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Yaşam Boyu Öğrenme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Mühendislik alanı hızlı değişir; lisans eğitimi bir başlangıçtır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Dil modelleme konusu ders programında yer almıyor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Konu kendi okumalarımla öğrenildi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Olasılık ve veri yapıları derslerinin bilgisi doğrudan kullanıldı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Neyi bilmediğini fark etme becerisi bu süreçte gelişti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Öğrenme, mezuniyetle biten değil kariyer boyunca süren bir süreç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Sürdürülebilirlik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Yazılım tabanlı projelerin çevresel etkisi çoğu zaman göz ardı edilir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Büyük dil modellerinin eğitimi ciddi enerji tüketir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Hafif yöntemleri tercih etmek doğrudan bir sürdürülebilirlik kararıdır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Bu projede n-gram eğitimi dakikalar sürdü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Özel donanım gerektirmedi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Düşük kaynak, küçük ölçekli geliştiricilere de fırsat verir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Standart Bilgisi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Mühendislik uygulamaları IEEE, ISO ve IEC standartları çerçevesinde ilerler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Yazılım kalitesi için ISO/IEC 25010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Bilgi güvenliği için ISO/IEC 27001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Kişisel veri işlenseydi KVKK ve GDPR gerekli olurdu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Web arayüzü için WCAG erişilebilirlik yönergeleri temel referans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Bu proje son kullanıcıya sunulacak bir ürün olsaydı bu standartlar başlangıçtan tasarıma dahil edilirdi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20"/>
          <p:cNvSpPr/>
          <p:nvPr/>
        </p:nvSpPr>
        <p:spPr>
          <a:xfrm>
            <a:off x="487440" y="1197000"/>
            <a:ext cx="816912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200" b="1" strike="noStrike" spc="-1">
                <a:solidFill>
                  <a:srgbClr val="FF6600"/>
                </a:solidFill>
                <a:latin typeface="Arial"/>
              </a:rPr>
              <a:t>Etik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Resim 3"/>
          <p:cNvPicPr/>
          <p:nvPr/>
        </p:nvPicPr>
        <p:blipFill>
          <a:blip r:embed="rId2"/>
          <a:stretch/>
        </p:blipFill>
        <p:spPr>
          <a:xfrm>
            <a:off x="395280" y="252360"/>
            <a:ext cx="3973680" cy="800280"/>
          </a:xfrm>
          <a:prstGeom prst="rect">
            <a:avLst/>
          </a:prstGeom>
          <a:ln w="0">
            <a:noFill/>
          </a:ln>
        </p:spPr>
      </p:pic>
      <p:sp>
        <p:nvSpPr>
          <p:cNvPr id="100" name="ContentBox"/>
          <p:cNvSpPr/>
          <p:nvPr/>
        </p:nvSpPr>
        <p:spPr>
          <a:xfrm>
            <a:off x="487440" y="1850000"/>
            <a:ext cx="8169120" cy="45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/>
          <a:lstStyle/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Mühendislik etiği; tarafsızlık, dürüstlük, kamu yararı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Akademik metinlerde kaynak göstermek başkalarının emeğine saygıdır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Elde edilmemiş sonuçların yazıya geçirilmesi ciddi bir ihlaldir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Dil modelleri her zaman doğru bilgi üretmez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Eğitim verisindeki yanlılıklar çıktıya yansıyabilir</a:t>
            </a: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Sistemin sınırlarını kullanıcıya iletmek geliştiricinin sorumluluğudur</a:t>
            </a:r>
          </a:p>
          <a:p>
            <a:pPr>
              <a:lnSpc>
                <a:spcPct val="100000"/>
              </a:lnSpc>
            </a:pPr>
            <a:endParaRPr lang="tr-TR" sz="1800" b="0" strike="noStrike" spc="-1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600"/>
              </a:spcBef>
              <a:buClr>
                <a:srgbClr val="FF6600"/>
              </a:buClr>
              <a:buFont typeface="Arial"/>
              <a:buChar char="▪"/>
            </a:pPr>
            <a:r>
              <a:rPr lang="tr-TR" sz="1800" b="0" strike="noStrike" spc="-1">
                <a:solidFill>
                  <a:srgbClr val="000000"/>
                </a:solidFill>
                <a:latin typeface="Arial"/>
              </a:rPr>
              <a:t>Bu projede tüm sayısal sonuçlar gerçek ölçümlerden alındı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10"/>
          <p:cNvSpPr/>
          <p:nvPr/>
        </p:nvSpPr>
        <p:spPr>
          <a:xfrm>
            <a:off x="900000" y="2492280"/>
            <a:ext cx="7993080" cy="17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600" b="1" i="1" strike="noStrike" spc="-1">
                <a:solidFill>
                  <a:srgbClr val="FF6600"/>
                </a:solidFill>
                <a:latin typeface="Arial"/>
              </a:rPr>
              <a:t>Katıldığınız İçin Teşekkür Ederim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3600" b="1" i="1" strike="noStrike" spc="-1">
                <a:solidFill>
                  <a:srgbClr val="FF6600"/>
                </a:solidFill>
                <a:latin typeface="Arial"/>
              </a:rPr>
              <a:t>					Saygılarımla</a:t>
            </a:r>
            <a:endParaRPr lang="en-US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Box 13"/>
          <p:cNvSpPr/>
          <p:nvPr/>
        </p:nvSpPr>
        <p:spPr>
          <a:xfrm>
            <a:off x="6948000" y="5589720"/>
            <a:ext cx="1704600" cy="45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tr-TR" sz="2400" b="0" strike="noStrike" spc="-1">
                <a:solidFill>
                  <a:srgbClr val="000000"/>
                </a:solidFill>
                <a:latin typeface="Arial"/>
              </a:rPr>
              <a:t>Haziran 2026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2079</TotalTime>
  <Words>864</Words>
  <Application>Microsoft Office PowerPoint</Application>
  <PresentationFormat>Ekran Gösterisi (4:3)</PresentationFormat>
  <Paragraphs>173</Paragraphs>
  <Slides>19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2</vt:i4>
      </vt:variant>
      <vt:variant>
        <vt:lpstr>Slayt Başlıkları</vt:lpstr>
      </vt:variant>
      <vt:variant>
        <vt:i4>19</vt:i4>
      </vt:variant>
    </vt:vector>
  </HeadingPairs>
  <TitlesOfParts>
    <vt:vector size="25" baseType="lpstr">
      <vt:lpstr>Arial</vt:lpstr>
      <vt:lpstr>Garamond</vt:lpstr>
      <vt:lpstr>Times New Roman</vt:lpstr>
      <vt:lpstr>Wingdings</vt:lpstr>
      <vt:lpstr>Office</vt:lpstr>
      <vt:lpstr>Office</vt:lpstr>
      <vt:lpstr>PowerPoint Sunusu</vt:lpstr>
      <vt:lpstr>Sunu Başlıkları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Alperen karakaya</cp:lastModifiedBy>
  <cp:revision>2</cp:revision>
  <dcterms:modified xsi:type="dcterms:W3CDTF">2026-07-01T14:44:13Z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2006-03-28T12:39:52Z</dcterms:created>
  <dc:creator>hakan</dc:creator>
  <dc:description/>
  <dc:language>en-US</dc:language>
  <cp:lastModifiedBy>SesLab-PC</cp:lastModifiedBy>
  <dcterms:modified xsi:type="dcterms:W3CDTF">2019-12-16T07:13:48Z</dcterms:modified>
  <cp:revision>80</cp:revision>
  <dc:subject/>
  <dc:title>Slide 1</dc:title>
</cp:coreProperties>
</file>